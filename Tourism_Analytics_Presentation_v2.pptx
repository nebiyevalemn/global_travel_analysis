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3291840"/>
          </a:xfrm>
          <a:prstGeom prst="rect">
            <a:avLst/>
          </a:prstGeom>
          <a:solidFill>
            <a:srgbClr val="0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6576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273552"/>
            <a:ext cx="12188952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502920"/>
            <a:ext cx="1097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FFFFFF"/>
                </a:solidFill>
                <a:latin typeface="Segoe UI"/>
              </a:rPr>
              <a:t>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548640"/>
            <a:ext cx="10058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00D4FF"/>
                </a:solidFill>
                <a:latin typeface="Segoe UI"/>
              </a:rPr>
              <a:t>Global Tourism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29844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Segoe UI"/>
              </a:rPr>
              <a:t>Intelligence Dashboard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02996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D6E0"/>
                </a:solidFill>
                <a:latin typeface="Segoe UI"/>
              </a:rPr>
              <a:t>A Data Analytics End-to-End Project  |  Flights · Hotels · Restaurants · Attractions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2487168"/>
            <a:ext cx="5943600" cy="4572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3520440"/>
            <a:ext cx="2633472" cy="1207008"/>
          </a:xfrm>
          <a:prstGeom prst="rect">
            <a:avLst/>
          </a:prstGeom>
          <a:solidFill>
            <a:srgbClr val="0A233A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4632" y="3639312"/>
            <a:ext cx="2359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D4FF"/>
                </a:solidFill>
                <a:latin typeface="Segoe UI"/>
              </a:rPr>
              <a:t>73K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4251960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Segoe UI"/>
              </a:rPr>
              <a:t>Flight Records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90672" y="3520440"/>
            <a:ext cx="2633472" cy="1207008"/>
          </a:xfrm>
          <a:prstGeom prst="rect">
            <a:avLst/>
          </a:prstGeom>
          <a:solidFill>
            <a:srgbClr val="0A233A"/>
          </a:solidFill>
          <a:ln w="2540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55264" y="3639312"/>
            <a:ext cx="2359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5C518"/>
                </a:solidFill>
                <a:latin typeface="Segoe UI"/>
              </a:rPr>
              <a:t>16K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55264" y="4251960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Segoe UI"/>
              </a:rPr>
              <a:t>Hotel Listings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61303" y="3520440"/>
            <a:ext cx="2633472" cy="1207008"/>
          </a:xfrm>
          <a:prstGeom prst="rect">
            <a:avLst/>
          </a:prstGeom>
          <a:solidFill>
            <a:srgbClr val="0A233A"/>
          </a:solidFill>
          <a:ln w="25400">
            <a:solidFill>
              <a:srgbClr val="C9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25895" y="3639312"/>
            <a:ext cx="2359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C96DFF"/>
                </a:solidFill>
                <a:latin typeface="Segoe UI"/>
              </a:rPr>
              <a:t>5,738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25895" y="4251960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Segoe UI"/>
              </a:rPr>
              <a:t>Attractions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31936" y="3520440"/>
            <a:ext cx="2633472" cy="1207008"/>
          </a:xfrm>
          <a:prstGeom prst="rect">
            <a:avLst/>
          </a:prstGeom>
          <a:solidFill>
            <a:srgbClr val="0A233A"/>
          </a:solidFill>
          <a:ln w="254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96528" y="3639312"/>
            <a:ext cx="23591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E676"/>
                </a:solidFill>
                <a:latin typeface="Segoe UI"/>
              </a:rPr>
              <a:t>2K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96528" y="4251960"/>
            <a:ext cx="2359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Segoe UI"/>
              </a:rPr>
              <a:t>Restaurants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892040"/>
            <a:ext cx="11548872" cy="658368"/>
          </a:xfrm>
          <a:prstGeom prst="rect">
            <a:avLst/>
          </a:prstGeom>
          <a:solidFill>
            <a:srgbClr val="0A233A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992624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0" i="0">
                <a:solidFill>
                  <a:srgbClr val="CCD6E0"/>
                </a:solidFill>
                <a:latin typeface="Segoe UI"/>
              </a:rPr>
              <a:t>Coverage: Top 30 Countries  ·  90 Destination Cities  ·  Europe  ·  Asia  ·  Middle East  ·  Americas  ·  Africa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294376"/>
            <a:ext cx="11155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668099"/>
                </a:solidFill>
                <a:latin typeface="Segoe UI"/>
              </a:rPr>
              <a:t>Data Period: 2026  (Q1 – Q4  quarterly batches)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687568"/>
            <a:ext cx="2029968" cy="420624"/>
          </a:xfrm>
          <a:prstGeom prst="rect">
            <a:avLst/>
          </a:prstGeom>
          <a:solidFill>
            <a:srgbClr val="042A45"/>
          </a:solidFill>
          <a:ln w="7620">
            <a:solidFill>
              <a:srgbClr val="668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79" y="5733288"/>
            <a:ext cx="1892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D4FF"/>
                </a:solidFill>
                <a:latin typeface="Segoe UI"/>
              </a:rPr>
              <a:t>Python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05456" y="5687568"/>
            <a:ext cx="2029968" cy="420624"/>
          </a:xfrm>
          <a:prstGeom prst="rect">
            <a:avLst/>
          </a:prstGeom>
          <a:solidFill>
            <a:srgbClr val="042A45"/>
          </a:solidFill>
          <a:ln w="7620">
            <a:solidFill>
              <a:srgbClr val="668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596896" y="5733288"/>
            <a:ext cx="1892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D4FF"/>
                </a:solidFill>
                <a:latin typeface="Segoe UI"/>
              </a:rPr>
              <a:t>Playwright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90872" y="5687568"/>
            <a:ext cx="2029968" cy="420624"/>
          </a:xfrm>
          <a:prstGeom prst="rect">
            <a:avLst/>
          </a:prstGeom>
          <a:solidFill>
            <a:srgbClr val="042A45"/>
          </a:solidFill>
          <a:ln w="7620">
            <a:solidFill>
              <a:srgbClr val="668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82312" y="5733288"/>
            <a:ext cx="1892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D4FF"/>
                </a:solidFill>
                <a:latin typeface="Segoe UI"/>
              </a:rPr>
              <a:t>Oracle SQL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76288" y="5687568"/>
            <a:ext cx="2029968" cy="420624"/>
          </a:xfrm>
          <a:prstGeom prst="rect">
            <a:avLst/>
          </a:prstGeom>
          <a:solidFill>
            <a:srgbClr val="042A45"/>
          </a:solidFill>
          <a:ln w="7620">
            <a:solidFill>
              <a:srgbClr val="668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67727" y="5733288"/>
            <a:ext cx="1892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D4FF"/>
                </a:solidFill>
                <a:latin typeface="Segoe UI"/>
              </a:rPr>
              <a:t>Power BI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61704" y="5687568"/>
            <a:ext cx="2029968" cy="420624"/>
          </a:xfrm>
          <a:prstGeom prst="rect">
            <a:avLst/>
          </a:prstGeom>
          <a:solidFill>
            <a:srgbClr val="042A45"/>
          </a:solidFill>
          <a:ln w="7620">
            <a:solidFill>
              <a:srgbClr val="668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53144" y="5733288"/>
            <a:ext cx="189280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0D4FF"/>
                </a:solidFill>
                <a:latin typeface="Segoe UI"/>
              </a:rPr>
              <a:t>CSV / ETL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657453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8099"/>
                </a:solidFill>
                <a:latin typeface="Segoe UI"/>
              </a:rPr>
              <a:t>Data Analytics Final Project  ·  2026  ·  Baku  →  Top 30 Global Destinations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  <a:latin typeface="Segoe UI"/>
              </a:rPr>
              <a:t>Global Tourism Intelligence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Segoe UI"/>
              </a:rPr>
              <a:t>Data Analytics Final Project  |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8099"/>
                </a:solidFill>
                <a:latin typeface="Segoe UI"/>
              </a:rPr>
              <a:t>SLIDE  2 / 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4864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Segoe UI"/>
              </a:rPr>
              <a:t>📌  PROBLEM DEFINITION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44752"/>
            <a:ext cx="11548872" cy="1481328"/>
          </a:xfrm>
          <a:prstGeom prst="rect">
            <a:avLst/>
          </a:prstGeom>
          <a:solidFill>
            <a:srgbClr val="0A233A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" y="155448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  ▸  Flight prices change daily — travelers cannot predict the best booking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" y="1815084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  ▸  Hotels in the same city have very different prices and quality levels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" y="2075688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  ▸  Some popular restaurants are 'tourist traps' — high reviews, below-average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2336292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  ▸  No single platform combines flights, hotels, restaurants &amp; attractions into one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" y="2596896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  ▸  Travelers and tourism boards lack data-driven guidance for smart decisions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3035808"/>
            <a:ext cx="54864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017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Segoe UI"/>
              </a:rPr>
              <a:t>🎯  ANALYSIS OBJECTIVE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401568"/>
            <a:ext cx="5577840" cy="1874519"/>
          </a:xfrm>
          <a:prstGeom prst="rect">
            <a:avLst/>
          </a:prstGeom>
          <a:solidFill>
            <a:srgbClr val="0A233A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" y="351129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  ▸  Rank global cities using a Composite Tourism Score (hotels + restaurants + attractions)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" y="37719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  ▸  Identify best value-for-money destinations — high quality at low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" y="403250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  ▸  Detect airline pricing patterns: price volatility, monopoly routes, seasonal peaks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" y="429310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  ▸  Expose 'tourist trap' restaurants (popular but below city average rating)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" y="455371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  ▸  Estimate minimum trip baseline cost (flight + hotel) for 30 top destinations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481431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Segoe UI"/>
              </a:rPr>
              <a:t>  ▸  Deliver all insights through an interactive, multi-page Power BI dashboard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35040" y="3035808"/>
            <a:ext cx="54864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301752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Segoe UI"/>
              </a:rPr>
              <a:t>👥  TARGET AUDIENCE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35040" y="3401568"/>
            <a:ext cx="5833872" cy="1874519"/>
          </a:xfrm>
          <a:prstGeom prst="rect">
            <a:avLst/>
          </a:prstGeom>
          <a:solidFill>
            <a:srgbClr val="0A233A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72200" y="3511296"/>
            <a:ext cx="2779776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C518"/>
                </a:solidFill>
                <a:latin typeface="Segoe UI"/>
              </a:rPr>
              <a:t>Audience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51976" y="3511296"/>
            <a:ext cx="2779776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C518"/>
                </a:solidFill>
                <a:latin typeface="Segoe UI"/>
              </a:rPr>
              <a:t>Why It Matters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72200" y="3817620"/>
            <a:ext cx="2779776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🎒 Travelers &amp; Tourists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51976" y="3817620"/>
            <a:ext cx="2779776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Find best destinations for their budget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4087368"/>
            <a:ext cx="2779776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🏨 Hotel &amp; Restaurant Managers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51976" y="4087368"/>
            <a:ext cx="2779776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Compare ratings vs. competitors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4357116"/>
            <a:ext cx="2779776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✈️ Airlines &amp; Travel Agencies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51976" y="4357116"/>
            <a:ext cx="2779776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Identify pricing trends &amp; route gaps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4626864"/>
            <a:ext cx="2779776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🏛️ Tourism Boards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51976" y="4626864"/>
            <a:ext cx="2779776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Promote cities using real data insights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4896612"/>
            <a:ext cx="2779776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📊 Data Analysts &amp; Students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51976" y="4896612"/>
            <a:ext cx="2779776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Learn a real end-to-end analytics project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657453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8099"/>
                </a:solidFill>
                <a:latin typeface="Segoe UI"/>
              </a:rPr>
              <a:t>Python  ·  SQL (Oracle)  ·  Power BI  ·  Web Scraping  ·  Statistical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C518"/>
                </a:solidFill>
                <a:latin typeface="Segoe UI"/>
              </a:rPr>
              <a:t>Tools, Data Sources &amp; Research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Segoe UI"/>
              </a:rPr>
              <a:t>Data Analytics Final Project  | 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8099"/>
                </a:solidFill>
                <a:latin typeface="Segoe UI"/>
              </a:rPr>
              <a:t>SLIDE  3 / 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97280"/>
            <a:ext cx="54864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78992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Segoe UI"/>
              </a:rPr>
              <a:t>🔧  TOOLS &amp; TECHNOLOGIES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44752"/>
            <a:ext cx="11548872" cy="1572768"/>
          </a:xfrm>
          <a:prstGeom prst="rect">
            <a:avLst/>
          </a:prstGeom>
          <a:solidFill>
            <a:srgbClr val="0A233A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554480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4FF"/>
                </a:solidFill>
                <a:latin typeface="Segoe UI"/>
              </a:rPr>
              <a:t>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15384" y="1554480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4FF"/>
                </a:solidFill>
                <a:latin typeface="Segoe UI"/>
              </a:rPr>
              <a:t>Tool / Technology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73568" y="1554480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4FF"/>
                </a:solidFill>
                <a:latin typeface="Segoe UI"/>
              </a:rPr>
              <a:t>Purpose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1860804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Data Collection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15384" y="1860804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Python + Playwright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1860804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Web scraping — Google Flights &amp; TripAdvisor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130552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Data Storage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5384" y="2130552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CSV + Oracle 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2130552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Structured storage &amp; advanced querying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400300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Data 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15384" y="2400300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SQL (CTEs, Window Funcs)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2400300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16 custom queries: IQR, HHI, Moving Avg, Z-score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670048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Visualization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15384" y="2670048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Power BI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2670048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5-page interactive dashboard with KPI cards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939796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Scraping Libs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15384" y="2939796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asyncio · csv · re · PIL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2939796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Automation, parsing &amp; image handling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127248"/>
            <a:ext cx="54864" cy="347472"/>
          </a:xfrm>
          <a:prstGeom prst="rect">
            <a:avLst/>
          </a:prstGeom>
          <a:solidFill>
            <a:srgbClr val="C9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31089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6DFF"/>
                </a:solidFill>
                <a:latin typeface="Segoe UI"/>
              </a:rPr>
              <a:t>❓  KEY RESEARCH QUESTIONS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3493008"/>
            <a:ext cx="5577840" cy="2130552"/>
          </a:xfrm>
          <a:prstGeom prst="rect">
            <a:avLst/>
          </a:prstGeom>
          <a:solidFill>
            <a:srgbClr val="0A233A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" y="360273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  <a:latin typeface="Segoe UI"/>
              </a:rPr>
              <a:t>  ▸  Which cities offer the best overall tourism experience (composite score)?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4632" y="3863339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  <a:latin typeface="Segoe UI"/>
              </a:rPr>
              <a:t>  ▸  Which destinations give the best value — high quality at a low price?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" y="4123944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  <a:latin typeface="Segoe UI"/>
              </a:rPr>
              <a:t>  ▸  When is the cheapest time to fly? What are peak vs. off-peak windows?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4632" y="4384548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  <a:latin typeface="Segoe UI"/>
              </a:rPr>
              <a:t>  ▸  Which airlines are most price-stable? Which routes are monopoly-controlled?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" y="4645152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  <a:latin typeface="Segoe UI"/>
              </a:rPr>
              <a:t>  ▸  What is the estimated minimum trip cost (flight + 3-night hotel) per city?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" y="4905756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  <a:latin typeface="Segoe UI"/>
              </a:rPr>
              <a:t>  ▸  Which restaurants are 'tourist traps' — popular but below city average rating?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" y="51663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  <a:latin typeface="Segoe UI"/>
              </a:rPr>
              <a:t>  ▸  How large is the gap between advertised hotel prices and final checkout prices?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3127248"/>
            <a:ext cx="54864" cy="347472"/>
          </a:xfrm>
          <a:prstGeom prst="rect">
            <a:avLst/>
          </a:prstGeom>
          <a:solidFill>
            <a:srgbClr val="C9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310896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6DFF"/>
                </a:solidFill>
                <a:latin typeface="Segoe UI"/>
              </a:rPr>
              <a:t>📂  DATA SOURCES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35040" y="3493008"/>
            <a:ext cx="5833872" cy="2130552"/>
          </a:xfrm>
          <a:prstGeom prst="rect">
            <a:avLst/>
          </a:prstGeom>
          <a:solidFill>
            <a:srgbClr val="0A233A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72200" y="3602736"/>
            <a:ext cx="13898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96DFF"/>
                </a:solidFill>
                <a:latin typeface="Segoe UI"/>
              </a:rPr>
              <a:t>Dataset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62088" y="3602736"/>
            <a:ext cx="13898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96DFF"/>
                </a:solidFill>
                <a:latin typeface="Segoe UI"/>
              </a:rPr>
              <a:t>Records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51976" y="3602736"/>
            <a:ext cx="13898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96DFF"/>
                </a:solidFill>
                <a:latin typeface="Segoe UI"/>
              </a:rPr>
              <a:t>Source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341864" y="3602736"/>
            <a:ext cx="13898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96DFF"/>
                </a:solidFill>
                <a:latin typeface="Segoe UI"/>
              </a:rPr>
              <a:t>Key Fields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72200" y="3909060"/>
            <a:ext cx="13898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Hotels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62088" y="3909060"/>
            <a:ext cx="13898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~16,000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51976" y="3909060"/>
            <a:ext cx="13898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TripAdvisor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41864" y="3909060"/>
            <a:ext cx="13898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Name, Rating, Price, Country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4178808"/>
            <a:ext cx="13898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Restaurants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62088" y="4178808"/>
            <a:ext cx="13898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~2,000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51976" y="4178808"/>
            <a:ext cx="13898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TripAdvisor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41864" y="4178808"/>
            <a:ext cx="13898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Name, Rating, Reviews, Price Level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72200" y="4448556"/>
            <a:ext cx="13898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Attractions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62088" y="4448556"/>
            <a:ext cx="13898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~5,738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51976" y="4448556"/>
            <a:ext cx="13898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TripAdvisor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341864" y="4448556"/>
            <a:ext cx="13898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Name, Review Score, Count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72200" y="4718304"/>
            <a:ext cx="13898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Flights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62088" y="4718304"/>
            <a:ext cx="13898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~73,000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951976" y="4718304"/>
            <a:ext cx="13898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Google Flights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41864" y="4718304"/>
            <a:ext cx="1389888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Airline, Route, Date, Price, Stops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20040" y="5650992"/>
            <a:ext cx="1154887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668099"/>
                </a:solidFill>
                <a:latin typeface="Segoe UI"/>
              </a:rPr>
              <a:t>Coverage: Top 30 countries  ·  Europe, Asia, Middle East, Americas, Africa  ·  2026 Q1–Q4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4320" y="657453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8099"/>
                </a:solidFill>
                <a:latin typeface="Segoe UI"/>
              </a:rPr>
              <a:t>Datasets: hotels_final_countries.csv  ·  restaurants_final_countries.csv  ·  flights.csv  ·  attractions.csv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0D4FF"/>
                </a:solidFill>
                <a:latin typeface="Segoe UI"/>
              </a:rPr>
              <a:t>Data Collection — Web Scraping with Python &amp; Playwright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Segoe UI"/>
              </a:rPr>
              <a:t>Automated extraction from Google Flights &amp; TripAdvisor  |  90 Destinations  ·  4 Quarterly Batches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8099"/>
                </a:solidFill>
                <a:latin typeface="Segoe UI"/>
              </a:rPr>
              <a:t>SLIDE  4 / 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54864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06070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Segoe UI"/>
              </a:rPr>
              <a:t>🐍  HOW DATA WAS COLLECTED</a:t>
            </a:r>
          </a:p>
        </p:txBody>
      </p:sp>
      <p:sp>
        <p:nvSpPr>
          <p:cNvPr id="8" name="Oval 7"/>
          <p:cNvSpPr/>
          <p:nvPr/>
        </p:nvSpPr>
        <p:spPr>
          <a:xfrm>
            <a:off x="347472" y="1453896"/>
            <a:ext cx="274320" cy="2743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144475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444752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Segoe UI"/>
              </a:rPr>
              <a:t>Configure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7632" y="1444752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  <a:latin typeface="Segoe UI"/>
              </a:rPr>
              <a:t>30 countries × 3 cities = 90 destinations defined</a:t>
            </a:r>
          </a:p>
        </p:txBody>
      </p:sp>
      <p:sp>
        <p:nvSpPr>
          <p:cNvPr id="12" name="Oval 11"/>
          <p:cNvSpPr/>
          <p:nvPr/>
        </p:nvSpPr>
        <p:spPr>
          <a:xfrm>
            <a:off x="347472" y="1769364"/>
            <a:ext cx="274320" cy="2743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76022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1760220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Segoe UI"/>
              </a:rPr>
              <a:t>Batch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27632" y="1760220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  <a:latin typeface="Segoe UI"/>
              </a:rPr>
              <a:t>Dates split into Q1–Q4 batches (365 days, 2026)</a:t>
            </a:r>
          </a:p>
        </p:txBody>
      </p:sp>
      <p:sp>
        <p:nvSpPr>
          <p:cNvPr id="16" name="Oval 15"/>
          <p:cNvSpPr/>
          <p:nvPr/>
        </p:nvSpPr>
        <p:spPr>
          <a:xfrm>
            <a:off x="347472" y="2084831"/>
            <a:ext cx="274320" cy="2743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472" y="207568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075688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Segoe UI"/>
              </a:rPr>
              <a:t>Launch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2075688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  <a:latin typeface="Segoe UI"/>
              </a:rPr>
              <a:t>Playwright opens Chromium, anti-bot headers set</a:t>
            </a:r>
          </a:p>
        </p:txBody>
      </p:sp>
      <p:sp>
        <p:nvSpPr>
          <p:cNvPr id="20" name="Oval 19"/>
          <p:cNvSpPr/>
          <p:nvPr/>
        </p:nvSpPr>
        <p:spPr>
          <a:xfrm>
            <a:off x="347472" y="2400300"/>
            <a:ext cx="274320" cy="2743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7472" y="239115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Segoe UI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391156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Segoe UI"/>
              </a:rPr>
              <a:t>Navigate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2" y="2391156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  <a:latin typeface="Segoe UI"/>
              </a:rPr>
              <a:t>Google Flights URL built per origin → destination date</a:t>
            </a:r>
          </a:p>
        </p:txBody>
      </p:sp>
      <p:sp>
        <p:nvSpPr>
          <p:cNvPr id="24" name="Oval 23"/>
          <p:cNvSpPr/>
          <p:nvPr/>
        </p:nvSpPr>
        <p:spPr>
          <a:xfrm>
            <a:off x="347472" y="2715768"/>
            <a:ext cx="274320" cy="2743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270662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Segoe UI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270662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Segoe UI"/>
              </a:rPr>
              <a:t>Extract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27632" y="2706624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  <a:latin typeface="Segoe UI"/>
              </a:rPr>
              <a:t>Flight cards parsed: airline, price, stops, duration</a:t>
            </a:r>
          </a:p>
        </p:txBody>
      </p:sp>
      <p:sp>
        <p:nvSpPr>
          <p:cNvPr id="28" name="Oval 27"/>
          <p:cNvSpPr/>
          <p:nvPr/>
        </p:nvSpPr>
        <p:spPr>
          <a:xfrm>
            <a:off x="347472" y="3031235"/>
            <a:ext cx="274320" cy="2743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472" y="3022091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D1B2A"/>
                </a:solidFill>
                <a:latin typeface="Segoe UI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022091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C518"/>
                </a:solidFill>
                <a:latin typeface="Segoe UI"/>
              </a:rPr>
              <a:t>Save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27632" y="3022091"/>
            <a:ext cx="2331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D6E0"/>
                </a:solidFill>
                <a:latin typeface="Segoe UI"/>
              </a:rPr>
              <a:t>Results appended to per-batch CSV files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7472" y="3566160"/>
            <a:ext cx="877824" cy="731520"/>
          </a:xfrm>
          <a:prstGeom prst="rect">
            <a:avLst/>
          </a:prstGeom>
          <a:solidFill>
            <a:srgbClr val="0A23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3192" y="3611880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D4FF"/>
                </a:solidFill>
                <a:latin typeface="Segoe UI"/>
              </a:rPr>
              <a:t>90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" y="395935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D6E0"/>
                </a:solidFill>
                <a:latin typeface="Segoe UI"/>
              </a:rPr>
              <a:t>Destinations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61872" y="3566160"/>
            <a:ext cx="877824" cy="731520"/>
          </a:xfrm>
          <a:prstGeom prst="rect">
            <a:avLst/>
          </a:prstGeom>
          <a:solidFill>
            <a:srgbClr val="0A23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07592" y="3611880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D4FF"/>
                </a:solidFill>
                <a:latin typeface="Segoe UI"/>
              </a:rPr>
              <a:t>73K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07592" y="395935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D6E0"/>
                </a:solidFill>
                <a:latin typeface="Segoe UI"/>
              </a:rPr>
              <a:t>Flights Scraped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76272" y="3566160"/>
            <a:ext cx="877824" cy="731520"/>
          </a:xfrm>
          <a:prstGeom prst="rect">
            <a:avLst/>
          </a:prstGeom>
          <a:solidFill>
            <a:srgbClr val="0A23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21991" y="3611880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D4FF"/>
                </a:solidFill>
                <a:latin typeface="Segoe U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21991" y="395935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D6E0"/>
                </a:solidFill>
                <a:latin typeface="Segoe UI"/>
              </a:rPr>
              <a:t>Quarterly Batches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90672" y="3566160"/>
            <a:ext cx="877824" cy="731520"/>
          </a:xfrm>
          <a:prstGeom prst="rect">
            <a:avLst/>
          </a:prstGeom>
          <a:solidFill>
            <a:srgbClr val="0A233A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36391" y="3611880"/>
            <a:ext cx="804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0D4FF"/>
                </a:solidFill>
                <a:latin typeface="Segoe UI"/>
              </a:rPr>
              <a:t>15+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36391" y="3959352"/>
            <a:ext cx="804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CCD6E0"/>
                </a:solidFill>
                <a:latin typeface="Segoe UI"/>
              </a:rPr>
              <a:t>Fields per Record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4462272"/>
            <a:ext cx="3703320" cy="457200"/>
          </a:xfrm>
          <a:prstGeom prst="rect">
            <a:avLst/>
          </a:prstGeom>
          <a:solidFill>
            <a:srgbClr val="0A233A"/>
          </a:solidFill>
          <a:ln w="7620">
            <a:solidFill>
              <a:srgbClr val="6680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4526280"/>
            <a:ext cx="3520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68099"/>
                </a:solidFill>
                <a:latin typeface="Segoe UI"/>
              </a:rPr>
              <a:t>Libraries:  asyncio  ·  playwright  ·  csv  ·  re  ·  random  ·  datetime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187952" y="1042415"/>
            <a:ext cx="7680960" cy="5074920"/>
          </a:xfrm>
          <a:prstGeom prst="rect">
            <a:avLst/>
          </a:prstGeom>
          <a:solidFill>
            <a:srgbClr val="0A233A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python p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968" y="1115568"/>
            <a:ext cx="3657600" cy="4892040"/>
          </a:xfrm>
          <a:prstGeom prst="rect">
            <a:avLst/>
          </a:prstGeom>
        </p:spPr>
      </p:pic>
      <p:pic>
        <p:nvPicPr>
          <p:cNvPr id="48" name="Picture 47" descr="python 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5008" y="1115568"/>
            <a:ext cx="3657600" cy="489204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315968" y="604418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68099"/>
                </a:solidFill>
                <a:latin typeface="Segoe UI"/>
              </a:rPr>
              <a:t>scrap.py  — Configuration &amp; Destination Setup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65008" y="604418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68099"/>
                </a:solidFill>
                <a:latin typeface="Segoe UI"/>
              </a:rPr>
              <a:t>scrap.py  — Batch Dates, Scraper Loop &amp; CSV Output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657453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8099"/>
                </a:solidFill>
                <a:latin typeface="Segoe UI"/>
              </a:rPr>
              <a:t>Source: Google Flights  ·  TripAdvisor  ·  Tool: Python (Playwright)  ·  Output: CSV per batch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5C518"/>
                </a:solidFill>
                <a:latin typeface="Segoe UI"/>
              </a:rPr>
              <a:t>Data Normalization &amp; SQL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Segoe UI"/>
              </a:rPr>
              <a:t>Oracle SQL  ·  16 Advanced Analytical Queries  ·  Window Functions, CTEs, Statistical Methods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8099"/>
                </a:solidFill>
                <a:latin typeface="Segoe UI"/>
              </a:rPr>
              <a:t>SLIDE  5 / 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5577840" cy="3017520"/>
          </a:xfrm>
          <a:prstGeom prst="rect">
            <a:avLst/>
          </a:prstGeom>
          <a:solidFill>
            <a:srgbClr val="0A233A"/>
          </a:solidFill>
          <a:ln w="190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q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5394960" cy="2788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3904487"/>
            <a:ext cx="5394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8099"/>
                </a:solidFill>
                <a:latin typeface="Segoe UI"/>
              </a:rPr>
              <a:t>Query #1 — Composite Tourism Performance Index &amp; City Ranking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035040" y="1051560"/>
            <a:ext cx="5833872" cy="3017520"/>
          </a:xfrm>
          <a:prstGeom prst="rect">
            <a:avLst/>
          </a:prstGeom>
          <a:solidFill>
            <a:srgbClr val="0A233A"/>
          </a:solidFill>
          <a:ln w="19050"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ql 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15568"/>
            <a:ext cx="5650992" cy="2788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126480" y="3904487"/>
            <a:ext cx="5650992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8099"/>
                </a:solidFill>
                <a:latin typeface="Segoe UI"/>
              </a:rPr>
              <a:t>Query #2 — Best Value Cities: Hotel Quality vs. Median Price (Value Index)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4224528"/>
            <a:ext cx="54864" cy="347472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C518"/>
                </a:solidFill>
                <a:latin typeface="Segoe UI"/>
              </a:rPr>
              <a:t>📋  KEY SQL QUERIES — PURPOSE &amp; METHODS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599432"/>
            <a:ext cx="11548872" cy="1965960"/>
          </a:xfrm>
          <a:prstGeom prst="rect">
            <a:avLst/>
          </a:prstGeom>
          <a:solidFill>
            <a:srgbClr val="0A233A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709160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C518"/>
                </a:solidFill>
                <a:latin typeface="Segoe UI"/>
              </a:rPr>
              <a:t>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15384" y="4709160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C518"/>
                </a:solidFill>
                <a:latin typeface="Segoe UI"/>
              </a:rPr>
              <a:t>SQL Technique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4709160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5C518"/>
                </a:solidFill>
                <a:latin typeface="Segoe UI"/>
              </a:rPr>
              <a:t>Business Purpose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015484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#1  Composite Tourism Index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15384" y="5015484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RANK() + weighted avg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73568" y="5015484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Score cities on Hotels+Rest+Attr combined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285232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#2  Best Value City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15384" y="5285232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PERCENTILE_CONT + ratio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73568" y="5285232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Quality / median price ratio ranking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554980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#3  HHI Market Concentration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15384" y="5554980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SUM(share²) — HHI formula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3568" y="5554980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How diversified are attraction markets?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824728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#4  Tourist Trap Detector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15384" y="5824728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AVG + JOIN + threshold filter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73568" y="5824728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Popular restaurants below city avg rating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094476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#5  Hotel Price Outliers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15384" y="6094476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IQR method (Q1, Q3, bounds)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73568" y="6094476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Flag hotels priced &gt;1.5x above Q3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364224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#6  Flight Volatility Trends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15384" y="6364224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STDDEV + 7-day Moving Avg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3568" y="6364224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Find airlines/routes with high price swings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633972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#11 Trip Cost Baseline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15384" y="6633972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PERCENTILE_CONT + JOIN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73568" y="6633972"/>
            <a:ext cx="3758184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Min flight + 3-night hotel estimate per city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57453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8099"/>
                </a:solidFill>
                <a:latin typeface="Segoe UI"/>
              </a:rPr>
              <a:t>SQL Techniques: CTEs  ·  Window Functions  ·  IQR  ·  HHI Index  ·  Z-Score  ·  Moving Average  ·  LAG() / LEAD()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0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6DFF"/>
                </a:solidFill>
                <a:latin typeface="Segoe UI"/>
              </a:rPr>
              <a:t>Data Modelling — Power BI Star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66928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  <a:latin typeface="Segoe UI"/>
              </a:rPr>
              <a:t>Relational data model with 4 core tables and 12 derived analytical tables  |  Oracle SQL + Power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10972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68099"/>
                </a:solidFill>
                <a:latin typeface="Segoe UI"/>
              </a:rPr>
              <a:t>SLIDE  6 / 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42415"/>
            <a:ext cx="7223760" cy="5212080"/>
          </a:xfrm>
          <a:prstGeom prst="rect">
            <a:avLst/>
          </a:prstGeom>
          <a:solidFill>
            <a:srgbClr val="0A233A"/>
          </a:solidFill>
          <a:ln w="19050">
            <a:solidFill>
              <a:srgbClr val="C96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tamode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15568"/>
            <a:ext cx="7040880" cy="504748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754112" y="1042415"/>
            <a:ext cx="54864" cy="34747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91272" y="1024127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FF"/>
                </a:solidFill>
                <a:latin typeface="Segoe UI"/>
              </a:rPr>
              <a:t>🗄️  CORE TABLES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54112" y="1408176"/>
            <a:ext cx="4114800" cy="1536192"/>
          </a:xfrm>
          <a:prstGeom prst="rect">
            <a:avLst/>
          </a:prstGeom>
          <a:solidFill>
            <a:srgbClr val="0A233A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91272" y="1517904"/>
            <a:ext cx="12801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4FF"/>
                </a:solidFill>
                <a:latin typeface="Segoe UI"/>
              </a:rPr>
              <a:t>Table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71432" y="1517904"/>
            <a:ext cx="12801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4FF"/>
                </a:solidFill>
                <a:latin typeface="Segoe UI"/>
              </a:rPr>
              <a:t>Size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451592" y="1517904"/>
            <a:ext cx="12801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00D4FF"/>
                </a:solidFill>
                <a:latin typeface="Segoe UI"/>
              </a:rPr>
              <a:t>Key Columns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91272" y="1824228"/>
            <a:ext cx="12801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HOTELS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71432" y="1824228"/>
            <a:ext cx="12801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16K 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51592" y="1824228"/>
            <a:ext cx="12801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hotel_name, rating, price_*)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2" y="2093976"/>
            <a:ext cx="12801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RESTAURANTS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1432" y="2093976"/>
            <a:ext cx="12801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2K rows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51592" y="2093976"/>
            <a:ext cx="12801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name, rating, review_count, price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1272" y="2363724"/>
            <a:ext cx="12801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ATTRACTIONS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1432" y="2363724"/>
            <a:ext cx="12801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5.7K rows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51592" y="2363724"/>
            <a:ext cx="12801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Segoe UI"/>
              </a:rPr>
              <a:t>headline, review_score, review_count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91272" y="2633472"/>
            <a:ext cx="12801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FLIGHTS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1432" y="2633472"/>
            <a:ext cx="12801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73K rows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51592" y="2633472"/>
            <a:ext cx="1280160" cy="2697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  <a:latin typeface="Segoe UI"/>
              </a:rPr>
              <a:t>airline, route, date, price, stops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54112" y="3090672"/>
            <a:ext cx="54864" cy="347472"/>
          </a:xfrm>
          <a:prstGeom prst="rect">
            <a:avLst/>
          </a:prstGeom>
          <a:solidFill>
            <a:srgbClr val="C96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91272" y="307238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96DFF"/>
                </a:solidFill>
                <a:latin typeface="Segoe UI"/>
              </a:rPr>
              <a:t>📊  DERIVED ANALYTICAL TABLES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54112" y="3456432"/>
            <a:ext cx="4114800" cy="2798064"/>
          </a:xfrm>
          <a:prstGeom prst="rect">
            <a:avLst/>
          </a:prstGeom>
          <a:solidFill>
            <a:srgbClr val="0A233A"/>
          </a:solidFill>
          <a:ln w="1524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18704" y="35661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  <a:latin typeface="Segoe UI"/>
              </a:rPr>
              <a:t>  ▸  CITY_TOURISM_PERFORMANCE_RANK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18704" y="3826763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  <a:latin typeface="Segoe UI"/>
              </a:rPr>
              <a:t>  ▸  CITY_HOTEL_VALUE_INDEX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18704" y="408736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  <a:latin typeface="Segoe UI"/>
              </a:rPr>
              <a:t>  ▸  CITY_ATTRACTION_MARKET_CONCENTRATION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18704" y="43479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  <a:latin typeface="Segoe UI"/>
              </a:rPr>
              <a:t>  ▸  TOURIST_TRAP_RESTAURANTS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18704" y="460857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  <a:latin typeface="Segoe UI"/>
              </a:rPr>
              <a:t>  ▸  HOTEL_PRICE_OUTLIERS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18704" y="48691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  <a:latin typeface="Segoe UI"/>
              </a:rPr>
              <a:t>  ▸  FLIGHT_PRICE_VOLATILITY_TRENDS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18704" y="512978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  <a:latin typeface="Segoe UI"/>
              </a:rPr>
              <a:t>  ▸  FLIGHT_DYNAMIC_PRICING_JUMPS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18704" y="5390388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  <a:latin typeface="Segoe UI"/>
              </a:rPr>
              <a:t>  ▸  ROUTE_MARKET_COMPETITION_SUMMARY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18704" y="565099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  <a:latin typeface="Segoe UI"/>
              </a:rPr>
              <a:t>  ▸  AIRLINE_PRICE_STABILITY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18704" y="5911596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  <a:latin typeface="Segoe UI"/>
              </a:rPr>
              <a:t>  ▸  CITY_FINE_DINING_DENSITY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18704" y="61722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  <a:latin typeface="Segoe UI"/>
              </a:rPr>
              <a:t>  ▸  CITY_TRIP_COST_BASELINE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18704" y="643280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D6E0"/>
                </a:solidFill>
                <a:latin typeface="Segoe UI"/>
              </a:rPr>
              <a:t>  ▸  CITY_MASTER_SUMMARY_DASHBOARD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4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6574536"/>
            <a:ext cx="11430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68099"/>
                </a:solidFill>
                <a:latin typeface="Segoe UI"/>
              </a:rPr>
              <a:t>Data Model: Oracle SQL  →  Power BI  ·  Star Schema  ·  4 Core Tables  ·  12 Derived Analytical Tables  ·  16 SQL Queries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